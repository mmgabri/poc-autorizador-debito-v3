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5" r:id="rId5"/>
    <p:sldId id="268" r:id="rId6"/>
    <p:sldId id="259" r:id="rId7"/>
    <p:sldId id="260" r:id="rId8"/>
    <p:sldId id="261" r:id="rId9"/>
    <p:sldId id="262" r:id="rId10"/>
    <p:sldId id="263" r:id="rId11"/>
    <p:sldId id="267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456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1BF11-712F-D28A-25AA-D4FC1AD7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28EC4-585C-1B63-5CA8-AD0F91924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8E646-BFF0-872D-9052-330E3F9D5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B40ED-0D8B-777B-5D54-DE2200FC7D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18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4E20F-56EB-E8C3-9108-BB31E6BE2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F66C4-2205-1639-2DA9-B6FBC1C8B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FACA5-A4C3-6646-4D7F-12C2E9C10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C3FE6-9186-10C7-25B5-52913B97C5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19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TÉCNICO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 — </a:t>
            </a:r>
            <a:r>
              <a:rPr lang="en-US" sz="4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Autorizador</a:t>
            </a: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4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Débito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743200" cy="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Autorizador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Débito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09/05/2026  •  Stack: Java 21, Spring Boot, AWS (ECS, SQS, DynamoDB, Redis), gRPC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POC — Autorizador Débito  •  Maio/2026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 capacidade do </a:t>
            </a:r>
            <a:r>
              <a:rPr lang="en-US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Autorizador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Débito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 carga progressiva, com TPS-alvo de 1.200, identificando o comportamento dos componentes síncronos (chamadas paralelas em gRPC) e assíncronos (efetivação via fila SQS + Redis Pub/Sub) sob estresse.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356616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926080"/>
            <a:ext cx="73152" cy="31089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CARGA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Ramp progressivo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de 1 min em 50 TPS, ramp de 11 min subindo de 100 a 1.100 TPS, sustain de 2 min a 1.200 TPS.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926080"/>
            <a:ext cx="356616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926080"/>
            <a:ext cx="73152" cy="31089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TOTAL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 minutos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4389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teste: 18:25 às 18:40 (UTC-03:00). Plano executado pelo k6 com payload simulando autorização ISO 8583 mti 0200.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2926080"/>
            <a:ext cx="356616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926080"/>
            <a:ext cx="73152" cy="31089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CRÍTICO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~850 ms (sleeps)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12480" y="43891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(100ms) + Bloco simulação paralelo (400ms — segurança) + Bloco efetivação paralelo (350ms — ledger).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testada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POC — Autorizador Débito  •  Maio/2026</a:t>
            </a:r>
            <a:endParaRPr lang="en-US" sz="900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476822F7-E70A-4360-D159-D230CFEBB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92" y="1328471"/>
            <a:ext cx="10834778" cy="50012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1E107-C57A-4876-6A1C-EF833F6C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357AD9-9254-0978-2F81-2F3CAA8E10FB}"/>
              </a:ext>
            </a:extLst>
          </p:cNvPr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testada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B65DD21-398A-B565-3767-6CB1BDA397FA}"/>
              </a:ext>
            </a:extLst>
          </p:cNvPr>
          <p:cNvSpPr/>
          <p:nvPr/>
        </p:nvSpPr>
        <p:spPr>
          <a:xfrm>
            <a:off x="457200" y="914400"/>
            <a:ext cx="45720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EC76FC-D443-6D8A-0E7F-36A1D1255E9B}"/>
              </a:ext>
            </a:extLst>
          </p:cNvPr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POC — Autorizador Débito  •  Maio/2026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130F9D-3585-0DE0-ECBE-7B309749FF01}"/>
              </a:ext>
            </a:extLst>
          </p:cNvPr>
          <p:cNvSpPr/>
          <p:nvPr/>
        </p:nvSpPr>
        <p:spPr>
          <a:xfrm>
            <a:off x="457200" y="128016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requisição entra pelo formatador-bandeiras, que repassa ao autorizador-debito. O orquestrador executa três blocos: enrichment sequencial, bloco de simulação em paralelo (rules, security, limit, ledger) e bloco de efetivação em paralelo (limit, ledger, antifraud). Após o ciclo síncrono, ledger-service (efetivação) enfileira o comando na SQS queue-comando-conta, consumido pelo serviço Conta. A resposta retorna ao chamador via Redis Pub/Sub com canais por pod (UUID), padrão pseudo-síncrono sobre infra assíncrona.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3BAFD41-3039-5006-0858-54EB8F5CD5A3}"/>
              </a:ext>
            </a:extLst>
          </p:cNvPr>
          <p:cNvSpPr/>
          <p:nvPr/>
        </p:nvSpPr>
        <p:spPr>
          <a:xfrm>
            <a:off x="457200" y="3108960"/>
            <a:ext cx="237744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B6C0D7-C0B4-8740-9095-A442C38FE942}"/>
              </a:ext>
            </a:extLst>
          </p:cNvPr>
          <p:cNvSpPr/>
          <p:nvPr/>
        </p:nvSpPr>
        <p:spPr>
          <a:xfrm>
            <a:off x="54864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D56A6B4-03AE-2A7F-4D5D-4B8DF745BDDC}"/>
              </a:ext>
            </a:extLst>
          </p:cNvPr>
          <p:cNvSpPr/>
          <p:nvPr/>
        </p:nvSpPr>
        <p:spPr>
          <a:xfrm>
            <a:off x="457200" y="3566160"/>
            <a:ext cx="2377440" cy="2286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6B7CDD6-6BDF-EF45-0C20-704F1FDE6755}"/>
              </a:ext>
            </a:extLst>
          </p:cNvPr>
          <p:cNvSpPr/>
          <p:nvPr/>
        </p:nvSpPr>
        <p:spPr>
          <a:xfrm>
            <a:off x="640080" y="37490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formatador-bandeiras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autorizador-debito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12BAEC1-1347-F30C-10B5-4878C9405DAC}"/>
              </a:ext>
            </a:extLst>
          </p:cNvPr>
          <p:cNvSpPr/>
          <p:nvPr/>
        </p:nvSpPr>
        <p:spPr>
          <a:xfrm>
            <a:off x="3017520" y="3108960"/>
            <a:ext cx="237744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1AEB951-386F-0FCF-06BE-AD63663CA930}"/>
              </a:ext>
            </a:extLst>
          </p:cNvPr>
          <p:cNvSpPr/>
          <p:nvPr/>
        </p:nvSpPr>
        <p:spPr>
          <a:xfrm>
            <a:off x="310896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— sequencial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4734D81-6A7C-11A4-5D0D-B1EE63BD2B5F}"/>
              </a:ext>
            </a:extLst>
          </p:cNvPr>
          <p:cNvSpPr/>
          <p:nvPr/>
        </p:nvSpPr>
        <p:spPr>
          <a:xfrm>
            <a:off x="3017520" y="3566160"/>
            <a:ext cx="2377440" cy="2286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DEF523A-CAF8-88B7-642C-7531C8D97FB1}"/>
              </a:ext>
            </a:extLst>
          </p:cNvPr>
          <p:cNvSpPr/>
          <p:nvPr/>
        </p:nvSpPr>
        <p:spPr>
          <a:xfrm>
            <a:off x="3200400" y="37490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enrichment-service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7FB19D0-D8E0-5E74-B98A-72BD10AB0516}"/>
              </a:ext>
            </a:extLst>
          </p:cNvPr>
          <p:cNvSpPr/>
          <p:nvPr/>
        </p:nvSpPr>
        <p:spPr>
          <a:xfrm>
            <a:off x="5577840" y="3108960"/>
            <a:ext cx="2377440" cy="4572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BFDCDD8-8FA6-D1F3-EFAE-310D060BD637}"/>
              </a:ext>
            </a:extLst>
          </p:cNvPr>
          <p:cNvSpPr/>
          <p:nvPr/>
        </p:nvSpPr>
        <p:spPr>
          <a:xfrm>
            <a:off x="566928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paralelo (simulação)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0A3C09A-1EA7-BC90-1139-C1C21103AB35}"/>
              </a:ext>
            </a:extLst>
          </p:cNvPr>
          <p:cNvSpPr/>
          <p:nvPr/>
        </p:nvSpPr>
        <p:spPr>
          <a:xfrm>
            <a:off x="5577840" y="3566160"/>
            <a:ext cx="2377440" cy="2286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7579F95-6D70-D558-B2F4-5FCF327F6B56}"/>
              </a:ext>
            </a:extLst>
          </p:cNvPr>
          <p:cNvSpPr/>
          <p:nvPr/>
        </p:nvSpPr>
        <p:spPr>
          <a:xfrm>
            <a:off x="5760720" y="37490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3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C36F285-85E7-1A14-9773-A15CA53EEAF1}"/>
              </a:ext>
            </a:extLst>
          </p:cNvPr>
          <p:cNvSpPr/>
          <p:nvPr/>
        </p:nvSpPr>
        <p:spPr>
          <a:xfrm>
            <a:off x="8138160" y="3108960"/>
            <a:ext cx="2377440" cy="4572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C411253-86CB-C0D1-F2C4-A7FD7081B69F}"/>
              </a:ext>
            </a:extLst>
          </p:cNvPr>
          <p:cNvSpPr/>
          <p:nvPr/>
        </p:nvSpPr>
        <p:spPr>
          <a:xfrm>
            <a:off x="822960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— paralelo (efetivação)</a:t>
            </a:r>
            <a:endParaRPr lang="en-US"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CB8D651-AC8C-E1A6-6A08-21B1E05CB274}"/>
              </a:ext>
            </a:extLst>
          </p:cNvPr>
          <p:cNvSpPr/>
          <p:nvPr/>
        </p:nvSpPr>
        <p:spPr>
          <a:xfrm>
            <a:off x="8138160" y="3566160"/>
            <a:ext cx="2377440" cy="2286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7449E4E-7D5A-F5BC-DF43-F53DF8617783}"/>
              </a:ext>
            </a:extLst>
          </p:cNvPr>
          <p:cNvSpPr/>
          <p:nvPr/>
        </p:nvSpPr>
        <p:spPr>
          <a:xfrm>
            <a:off x="8321040" y="37490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antifraud</a:t>
            </a:r>
            <a:endParaRPr lang="en-US" sz="13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E9AE53C-5032-3B81-B8CF-CB6CFE245426}"/>
              </a:ext>
            </a:extLst>
          </p:cNvPr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64942B7-63EA-AA15-7668-122093E5E4E8}"/>
              </a:ext>
            </a:extLst>
          </p:cNvPr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Async: ledger-service (efetivação) → SQS → serviço Conta  •  resposta via Redis Pub/Sub (canal por pod UUID)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133059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366"/>
                </a:solidFill>
              </a:rPr>
              <a:t>Configuracao de Tasks — ECS (AWS)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572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B7A"/>
                </a:solidFill>
              </a:rPr>
              <a:t>Laudo POC — Autorizador Debito  |  Maio/2026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0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</a:rPr>
              <a:t>Numero de tasks (desired_count) configuradas no Terraform — infra/terraform-ecs/main.tf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10000"/>
            <a:ext cx="4500000" cy="5200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7200" y="1310000"/>
            <a:ext cx="438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261"/>
              </a:spcBef>
            </a:pPr>
            <a:r>
              <a:rPr sz="1100" b="1">
                <a:solidFill>
                  <a:srgbClr val="FFFFFF"/>
                </a:solidFill>
              </a:rPr>
              <a:t>Microservico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7200" y="1310000"/>
            <a:ext cx="2000000" cy="5200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17200" y="1310000"/>
            <a:ext cx="188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261"/>
              </a:spcBef>
            </a:pPr>
            <a:r>
              <a:rPr sz="1100" b="1">
                <a:solidFill>
                  <a:srgbClr val="FFFFFF"/>
                </a:solidFill>
              </a:rPr>
              <a:t>Tasks (desired_count)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57200" y="1310000"/>
            <a:ext cx="2000000" cy="5200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17200" y="1310000"/>
            <a:ext cx="188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261"/>
              </a:spcBef>
            </a:pPr>
            <a:r>
              <a:rPr sz="1100" b="1">
                <a:solidFill>
                  <a:srgbClr val="FFFFFF"/>
                </a:solidFill>
              </a:rPr>
              <a:t>vCPU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57200" y="1310000"/>
            <a:ext cx="2000000" cy="52000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17200" y="1310000"/>
            <a:ext cx="188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261"/>
              </a:spcBef>
            </a:pPr>
            <a:r>
              <a:rPr sz="1100" b="1">
                <a:solidFill>
                  <a:srgbClr val="FFFFFF"/>
                </a:solidFill>
              </a:rPr>
              <a:t>Memoria (GB)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30000"/>
            <a:ext cx="45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7200" y="1830000"/>
            <a:ext cx="43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formatador-bandeiras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7200" y="183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7200" y="183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1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57200" y="183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17200" y="183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7200" y="183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17200" y="183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4 GB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10000"/>
            <a:ext cx="45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7200" y="2310000"/>
            <a:ext cx="43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autorizador-debito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7200" y="231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17200" y="231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1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57200" y="231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17200" y="231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57200" y="231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17200" y="231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8 GB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90000"/>
            <a:ext cx="45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7200" y="2790000"/>
            <a:ext cx="43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enrichment-service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57200" y="279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17200" y="279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1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57200" y="279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17200" y="279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57200" y="279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17200" y="279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4 GB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270000"/>
            <a:ext cx="45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7200" y="3270000"/>
            <a:ext cx="43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rules-service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57200" y="327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17200" y="327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1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57200" y="327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17200" y="327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57200" y="327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17200" y="327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4 GB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750000"/>
            <a:ext cx="45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17200" y="3750000"/>
            <a:ext cx="43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security-service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7200" y="375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17200" y="375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1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57200" y="375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017200" y="375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57200" y="375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017200" y="375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4 GB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230000"/>
            <a:ext cx="45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17200" y="4230000"/>
            <a:ext cx="43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limit-service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57200" y="423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017200" y="423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1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57200" y="423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017200" y="423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57200" y="423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17200" y="423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4 GB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710000"/>
            <a:ext cx="4500000" cy="480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7200" y="4710000"/>
            <a:ext cx="43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103"/>
              </a:spcBef>
            </a:pPr>
            <a:r>
              <a:rPr sz="1100" b="0">
                <a:solidFill>
                  <a:srgbClr val="FFFFFF"/>
                </a:solidFill>
              </a:rPr>
              <a:t>ledger-service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57200" y="4710000"/>
            <a:ext cx="2000000" cy="480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017200" y="471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57200" y="4710000"/>
            <a:ext cx="2000000" cy="480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017200" y="471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57200" y="4710000"/>
            <a:ext cx="2000000" cy="480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17200" y="471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FFFFFF"/>
                </a:solidFill>
              </a:rPr>
              <a:t>4 GB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190000"/>
            <a:ext cx="4500000" cy="480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17200" y="5190000"/>
            <a:ext cx="43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103"/>
              </a:spcBef>
            </a:pPr>
            <a:r>
              <a:rPr sz="1100" b="0">
                <a:solidFill>
                  <a:srgbClr val="FFFFFF"/>
                </a:solidFill>
              </a:rPr>
              <a:t>conta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57200" y="5190000"/>
            <a:ext cx="2000000" cy="480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017200" y="519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57200" y="5190000"/>
            <a:ext cx="2000000" cy="480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17200" y="519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57200" y="5190000"/>
            <a:ext cx="2000000" cy="480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017200" y="519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FFFFFF"/>
                </a:solidFill>
              </a:rPr>
              <a:t>4 GB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670000"/>
            <a:ext cx="45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17200" y="5670000"/>
            <a:ext cx="43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antifraud-service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57200" y="567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17200" y="567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1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57200" y="567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017200" y="567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57200" y="5670000"/>
            <a:ext cx="2000000" cy="48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017200" y="5670000"/>
            <a:ext cx="1880000" cy="4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103"/>
              </a:spcBef>
            </a:pPr>
            <a:r>
              <a:rPr sz="1100" b="0">
                <a:solidFill>
                  <a:srgbClr val="1A1A1A"/>
                </a:solidFill>
              </a:rPr>
              <a:t>4 GB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6150000"/>
            <a:ext cx="4500000" cy="52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7200" y="6150000"/>
            <a:ext cx="438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1261"/>
              </a:spcBef>
            </a:pPr>
            <a:r>
              <a:rPr sz="110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957200" y="6150000"/>
            <a:ext cx="2000000" cy="52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017200" y="6150000"/>
            <a:ext cx="188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261"/>
              </a:spcBef>
            </a:pPr>
            <a:r>
              <a:rPr sz="11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957200" y="6150000"/>
            <a:ext cx="2000000" cy="52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017200" y="6150000"/>
            <a:ext cx="188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261"/>
              </a:spcBef>
            </a:pPr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957200" y="6150000"/>
            <a:ext cx="2000000" cy="52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017200" y="6150000"/>
            <a:ext cx="188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261"/>
              </a:spcBef>
            </a:pPr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57200" y="6790000"/>
            <a:ext cx="11247120" cy="48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30000" y="6870000"/>
            <a:ext cx="111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3366"/>
                </a:solidFill>
              </a:rPr>
              <a:t>Nota: ledger-service e conta possuem mais tasks pois sao os servicos do caminho assincrono (SQS + Redis), dimensionados para absorver o pico de 1.200 TPS sem acumulo de fila.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 de carga (k6)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POC — Autorizador Débito  •  Maio/2026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029200" cy="395020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TPS-alvo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280160"/>
            <a:ext cx="5760720" cy="50292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0" y="1280160"/>
            <a:ext cx="576072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Sleeps simulados no payload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0" y="187452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(sequencial)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enrichment: 100 ms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simulação (paralelo)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ledger: 200 ms  •  limit: 150 ms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segurança: 400 ms  •  rules: 50 ms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— efetivação (paralelo)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ledger: 350 ms  •  limit: 200 ms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fraude: 300 ms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crítico teórico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100 + 400 + 350 = ~850 ms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— números do teste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POC — Autorizador Débito  •  Maio/2026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18288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sustentado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platô estável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97480" cy="18288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5544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447 mil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337560" y="2514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processadas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8346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autorizador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97480" cy="18288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 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217920" y="2514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e2e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8346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 durante o ramp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1371600"/>
            <a:ext cx="2697480" cy="18288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5544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&lt;0,3%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098280" y="2514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Atrito sync → async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98280" y="28346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447,84k → 446,5k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Detalhes por componente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1247120" cy="1645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síncrono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e2e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~1.000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Estável durante ramp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DynamoDB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 (transaction, idempotency, service_calls)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Estável após warm-up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Chamada async (ledger)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crescimento monotônico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 Conta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Estável sob carga máxima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— pontos positivos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POC — Autorizador Débito  •  Maio/2026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síncrono escalou de forma linear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degradação do p99 conforme o TPS subiu, validando o desenho com CompletableFuture + invokeAll com deadline global em gRPC.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respondeu com folga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788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throttling visível ao longo do teste. Latência &lt;20ms estável após cold start inicial.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3474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Atrito mínimo entre sync e async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3840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447,84k mensagens enviadas → 446,5k recebidas no serviço Conta. Perda &lt; 0,3%, sem impacto operacional.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4526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pseudo-síncrona via Redis Pub/Sub estável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4892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canal por pod com UUID não introduziu latência mensurável, validando o padrão híbrido sync/async.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Idempotência funcional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8720" y="5943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duration do componente alinhada com transaction, sem reprocessamento visível.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 de atenção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POC — Autorizador Débito  •  Maio/2026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91440" cy="155448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TPS-alvo de 1.200 não foi totalmente atingido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estabilizou próximo de 1.100 TPS no final da rampa. Como o sustain foi de apenas 2 minutos, é provável que com sustain mais longo o sistema atinja o alvo — não há sinal de saturação interna no comportamento observado.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97280" y="2468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repetindo o teste com sustain mais longo (10–15 min) e mais workers no k6.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1124712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71800"/>
            <a:ext cx="91440" cy="155448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97280" y="31089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baseada em sleeps fixos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4747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sleeps simulados não capturam o comportamento real sob contention de CPU, GC ou pool de conexões. Os números obtidos representam piso, não teto — em produção, com lógica real de negócio, o p99 tende a ser mais sensível ao aumento de TPS.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97280" y="41605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execução: substituir sleeps por mocks com lógica representativa do negócio.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1124712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663440"/>
            <a:ext cx="91440" cy="155448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097280" y="4800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tasks ECS fixas no autorizador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5166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 cenário de produção, 3 tasks fixas é desperdício em janelas ociosas e gargalo em pico. Com caminho crítico de ~850ms, sustentar 1.100 TPS exige ~370 threads simultâneas por task — operando próximo do limite do pool gRPC.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97280" y="58521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auto-scaling no ECS baseado em CPU + tamanho da fila SQS.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 &amp; próximos passos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POC — Autorizador Débito  •  Maio/2026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48463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GERAL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 aprovada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ressalvas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1371600" cy="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2044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 proposta é viável para o cenário de modernização do Autorizador Débito, sustentando ~1.100 TPS com p99 de e2e em ~1s e dependências (DynamoDB, Redis, SQS) operando dentro de limites aceitáveis. O modelo híbrido sync/async com retorno via Redis Pub/Sub se comportou de forma estável.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12801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760720" y="1828800"/>
            <a:ext cx="411480" cy="4114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160020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teste com sustain mais longo (10–15 min) e payloads sem sleeps fixos, com lógica real de mock, para identificar o teto real do pipeline.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2743200"/>
            <a:ext cx="411480" cy="4114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39840" y="251460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auto-scaling no ECS baseado em CPU + tamanho da fila SQS.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3657600"/>
            <a:ext cx="411480" cy="4114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342900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teste de soak (1–2h em sustain) para validar ausência de leaks ou degradação acumulada — o teste atual de 2 min de platô é curto para detectar problemas lentos.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4572000"/>
            <a:ext cx="411480" cy="4114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434340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Instrumentar saturação de pools de threads (gRPC, virtual threads, consumer SQS) e expor no dashboard, junto com lag da fila (oldest_message_age) e contadores de circuit breaker / retry por dependência.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5486400"/>
            <a:ext cx="411480" cy="4114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39840" y="521208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comportamento sob falha: derrubar uma dependência (ex.: throttle proposital no DynamoDB) e confirmar que circuit breakers, timeouts e retry funcionam como esperado.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CEA97-AE11-E7E7-387B-8BDAD8E3B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0AF21E-87B9-A184-5996-D1827156B330}"/>
              </a:ext>
            </a:extLst>
          </p:cNvPr>
          <p:cNvSpPr/>
          <p:nvPr/>
        </p:nvSpPr>
        <p:spPr>
          <a:xfrm>
            <a:off x="388189" y="914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Evidência</a:t>
            </a:r>
            <a:r>
              <a:rPr lang="en-US" sz="2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Dashboard Datadog 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C9838D5-4221-6DE9-F720-24A84996FD71}"/>
              </a:ext>
            </a:extLst>
          </p:cNvPr>
          <p:cNvSpPr/>
          <p:nvPr/>
        </p:nvSpPr>
        <p:spPr>
          <a:xfrm>
            <a:off x="388189" y="612648"/>
            <a:ext cx="45720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C433D1-08CC-3B70-BD49-83D0543B5A39}"/>
              </a:ext>
            </a:extLst>
          </p:cNvPr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POC — Autorizador Débito  •  Maio/2026</a:t>
            </a:r>
            <a:endParaRPr lang="en-US" sz="900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A538D0AB-AA6D-3A62-02B3-621644DF5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37" y="736522"/>
            <a:ext cx="11279411" cy="609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775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2743200" cy="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Débito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e próximos passos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1337</Words>
  <Application>Microsoft Office PowerPoint</Application>
  <PresentationFormat>Widescreen</PresentationFormat>
  <Paragraphs>234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Laudo POC - Autorizador Débito</dc:title>
  <dc:subject>PptxGenJS Presentation</dc:subject>
  <dc:creator>Marcelo</dc:creator>
  <cp:lastModifiedBy>MARCELO GABRIEL</cp:lastModifiedBy>
  <cp:revision>8</cp:revision>
  <dcterms:created xsi:type="dcterms:W3CDTF">2026-05-09T22:20:27Z</dcterms:created>
  <dcterms:modified xsi:type="dcterms:W3CDTF">2026-05-09T22:57:31Z</dcterms:modified>
</cp:coreProperties>
</file>